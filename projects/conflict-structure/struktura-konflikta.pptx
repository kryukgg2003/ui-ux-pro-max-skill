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Тема: объективная и субъективная структура конфликта по А. Я. Анцупову и А. И. Шипилову. Цель — показать, что конфликт это не просто ссора, а система элементов, каждый из которых можно назвать и разобрать.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Конфликт (лат. conflictus — столкновение) — отсутствие согласия между двумя или более сторонами, проявляющееся в несовместимости позиций или действий сторон, воспринимаемых ими как угроза себе, собственной идентичности. Каждая сторона делает всё, чтобы принята была её точка зрения, и мешает другой стороне делать то же самое. При этом конфликт всегда представляет собой выбор: сохранять существующую систему взаимодействий в неизменном виде или изменить её.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Анцупов и Шипилов рассматривают структуру конфликта как совокупность устойчивых связей, которые обеспечивают его целостность. Они выделяют две подструктуры — объективную и субъективную, каждая из которых включает как явные, так и скрытые элементы.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А. Я. Анцупов и А. И. Шипилов — авторы учебника «Конфликтология», одного из базовых в российской традиции. Они предложили рассматривать структуру конфликта как систему из двух взаимосвязанных подструктур.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Объективная подструктура отражает внешние, фактические обстоятельства конфликта, независимые от индивидуального восприятия его участников. К её элементам относятся: участники (субъекты) конфликта, объект конфликта, предмет конфликта, микросреда и макросреда.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Участники конфликта — это противоборствующие стороны, а также группы поддержки (те, кто прямо или косвенно содействует одной из сторон), наблюдатели и другие вовлечённые лица. Важный нюанс: сторона — это не просто жертва или наблюдатель, а тот, кто имеет свою позицию и силу. Иногда за спиной прямых участников стоят третьи лица — подстрекатели, союзники, — но они не являются сторонами в строгом смысле, пока не начнут действовать открыто.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Объект конфликта — это то, что находится в центре борьбы: реальная ценность, которую хотят заполучить или сохранить. Территория, деньги, должность, право голоса, ресурс. Объект может быть материальным (земля) или нематериальным (власть, уважение). Объект может быть как реальным, так и идеальным. Если объекта нет, конфликт превращается в пустую перепалку.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Предмет конфликта — это основное противоречие, из-за которого стороны вступают в противоборство; то, из-за чего спор возник здесь и сейчас. Например, объект — квартира, а предмет — кто будет в ней жить после развода или как делить метры. Предмет может меняться по ходу выяснения отношений, а объект остаётся неизменным. Предмет не всегда совпадает с объектом и может быть скрытым или неосознанным.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Микросреда — ближайшее окружение конфликта: семья, друзья, коллеги по отделу, соседи; локация, временные рамки, социально-психологический климат в группе участников. Микросреда может подогревать страсти или, наоборот, гасить их. Макросреда — более широкий социальный, культурный, экономический и политический контекст: законы, традиции, уровень напряжённости в обществе. Если в стране кризис и безработица, конфликт на работе из-за премии протекает иначе, чем в благополучное время.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субъективную подструктуру входят внутренние, психологические компоненты, которые формируются в сознании участников и во многом определяют динамику и характер конфликтного взаимодействия: психологические модели конфликтной ситуации, мотивы действий сторон, цели участников, актуальные психические состояния, образы оппонента, самого себя, объекта и предмета конфликта, а также вероятные результаты борьбы.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каждого участника складывается своя картина происходящего, которая не всегда совпадает с объективной реальностью. Образы — это когнитивные конструкции: представления каждого участника о другой стороне, о собственных качествах, о том, из-за чего возник спор, и о сути самого противоречия. Эти образы часто искажены — например, происходит «демонизация» противника.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Мотивы действий сторон — внутренние побуждения, которые толкают участников на конфликтное поведение. Цели — представления о том, чего они хотят добиться в конфликте. Вероятные результаты борьбы — прогнозируемые исходы, которые участники мысленно моделируют. Расхождение между заявленной целью и реальным мотивом — одна из главных причин, по которой конфликт не разрешается по существу.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Актуальные психические состояния участников — эмоциональный фон, уровень напряжения, стрессовые реакции, которые влияют на поведение. Чем выше напряжение, тем меньше вариантов выхода видит участник. Это единственный элемент структуры, который может измениться за минуты.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Анцупов и Шипилов подчёркивают, что объективная и субъективная подструктуры не существуют изолированно. Любая объективная причина конфликта неизбежно преломляется через субъективные восприятия и оценки участников. И наоборот — субъективные мотивы и образы во многом детерминированы объективными обстоятельствами. Поэтому для полноценного анализа конфликта необходимо рассматривать оба пласта.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Сквозной пример. Объект (квартира) делится по закону, но конфликт не гаснет, пока не признан реальный предмет — спор о признании вклада. Это показывает, зачем вообще нужен разбор по элементам: он вскрывает то, о чём стороны не говорят прямо.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Главное: структура — это устойчивые связи, обеспечивающие целостность конфликта. Объективная подструктура — участники, объект, предмет, микро- и макросреда. Субъективная — модели, мотивы, цели, состояния, образы и прогноз результатов. Оба пласта связаны, анализировать конфликт нужно одновременно по обоим. В каждой подструктуре есть явные и скрытые элементы, и чаще всего именно скрытые определяют, разрешится конфликт или повторится.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 за внимание. Готовы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818120" y="1234440"/>
            <a:ext cx="2834640" cy="2834640"/>
          </a:xfrm>
          <a:prstGeom prst="ellipse">
            <a:avLst/>
          </a:prstGeom>
          <a:solidFill>
            <a:srgbClr val="6BBBFF">
              <a:alpha val="8000"/>
            </a:srgbClr>
          </a:solidFill>
          <a:ln w="15875">
            <a:solidFill>
              <a:srgbClr val="6BBBF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732520" y="2286000"/>
            <a:ext cx="2834640" cy="2834640"/>
          </a:xfrm>
          <a:prstGeom prst="ellipse">
            <a:avLst/>
          </a:prstGeom>
          <a:solidFill>
            <a:srgbClr val="FF9166">
              <a:alpha val="8000"/>
            </a:srgbClr>
          </a:solidFill>
          <a:ln w="15875">
            <a:solidFill>
              <a:srgbClr val="FF916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8368" y="822960"/>
            <a:ext cx="100584" cy="100584"/>
          </a:xfrm>
          <a:prstGeom prst="ellipse">
            <a:avLst/>
          </a:prstGeom>
          <a:solidFill>
            <a:srgbClr val="6BBB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59536" y="731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КОНФЛИКТОЛОГИЯ · СТРУКТУРА КОНФЛИКТА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37160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Объективная и субъективная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структура конфликта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90779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двух подструктур конфликта по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А. Я. Анцупову</a:t>
            </a:r>
            <a:r>
              <a:rPr lang="en-US" sz="1500" dirty="0">
                <a:solidFill>
                  <a:srgbClr val="D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А. И. Шипилову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58368" y="3931920"/>
            <a:ext cx="1097280" cy="18288"/>
          </a:xfrm>
          <a:prstGeom prst="rect">
            <a:avLst/>
          </a:prstGeom>
          <a:solidFill>
            <a:srgbClr val="33415C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" y="4187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Выполнили студентки группы 8.536 зу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4553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Кудякова Дарья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493008" y="4553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Бороздова Валерия</a:t>
            </a:r>
            <a:endParaRPr lang="en-US" sz="14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58368" y="566928"/>
            <a:ext cx="91440" cy="91440"/>
          </a:xfrm>
          <a:prstGeom prst="ellipse">
            <a:avLst/>
          </a:prstGeom>
          <a:solidFill>
            <a:srgbClr val="6BBB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41248" y="475488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ИСХОДНАЯ ТОЧКА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841248"/>
            <a:ext cx="108749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Понятие «конфликт»</a:t>
            </a:r>
            <a:endParaRPr lang="en-US" sz="33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187452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«Отсутствие согласия между сторонами, проявляющееся в несовместимости позиций или действий, воспринимаемых ими как угроза себе».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749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сторона делает всё, чтобы принята была её точка зрения, и мешает другой стороне делать то же самое.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58368" y="4617720"/>
            <a:ext cx="3200400" cy="384048"/>
          </a:xfrm>
          <a:prstGeom prst="roundRect">
            <a:avLst>
              <a:gd name="adj" fmla="val 47619"/>
            </a:avLst>
          </a:prstGeom>
          <a:solidFill>
            <a:srgbClr val="12294A"/>
          </a:solidFill>
          <a:ln w="12700">
            <a:solidFill>
              <a:srgbClr val="3E7F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" y="46177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лат. conflictus — столкновение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1874520"/>
            <a:ext cx="5406847" cy="1115568"/>
          </a:xfrm>
          <a:prstGeom prst="roundRect">
            <a:avLst>
              <a:gd name="adj" fmla="val 8197"/>
            </a:avLst>
          </a:prstGeom>
          <a:solidFill>
            <a:srgbClr val="111827">
              <a:alpha val="82000"/>
            </a:srgbClr>
          </a:solidFill>
          <a:ln w="15875">
            <a:solidFill>
              <a:srgbClr val="3341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82512" y="2148840"/>
            <a:ext cx="347472" cy="347472"/>
          </a:xfrm>
          <a:prstGeom prst="ellipse">
            <a:avLst/>
          </a:prstGeom>
          <a:solidFill>
            <a:srgbClr val="12294A"/>
          </a:solidFill>
          <a:ln w="12700">
            <a:solidFill>
              <a:srgbClr val="6BBB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82512" y="2148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B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876288" y="2075688"/>
            <a:ext cx="44010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Несовместимость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876288" y="2496312"/>
            <a:ext cx="440100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Позиции или действия сторон не могут быть реализованы одновременно.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26480" y="3200400"/>
            <a:ext cx="5406847" cy="1115568"/>
          </a:xfrm>
          <a:prstGeom prst="roundRect">
            <a:avLst>
              <a:gd name="adj" fmla="val 8197"/>
            </a:avLst>
          </a:prstGeom>
          <a:solidFill>
            <a:srgbClr val="111827">
              <a:alpha val="82000"/>
            </a:srgbClr>
          </a:solidFill>
          <a:ln w="15875">
            <a:solidFill>
              <a:srgbClr val="33415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82512" y="3474720"/>
            <a:ext cx="347472" cy="347472"/>
          </a:xfrm>
          <a:prstGeom prst="ellipse">
            <a:avLst/>
          </a:prstGeom>
          <a:solidFill>
            <a:srgbClr val="12294A"/>
          </a:solidFill>
          <a:ln w="12700">
            <a:solidFill>
              <a:srgbClr val="6BBB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82512" y="3474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B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876288" y="3401568"/>
            <a:ext cx="44010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Восприятие угрозы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876288" y="3822192"/>
            <a:ext cx="440100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Стороны считывают ситуацию как посягательство на себя и свою идентичность.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126480" y="4526280"/>
            <a:ext cx="5406847" cy="1115568"/>
          </a:xfrm>
          <a:prstGeom prst="roundRect">
            <a:avLst>
              <a:gd name="adj" fmla="val 8197"/>
            </a:avLst>
          </a:prstGeom>
          <a:solidFill>
            <a:srgbClr val="111827">
              <a:alpha val="82000"/>
            </a:srgbClr>
          </a:solidFill>
          <a:ln w="15875">
            <a:solidFill>
              <a:srgbClr val="33415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82512" y="4800600"/>
            <a:ext cx="347472" cy="347472"/>
          </a:xfrm>
          <a:prstGeom prst="ellipse">
            <a:avLst/>
          </a:prstGeom>
          <a:solidFill>
            <a:srgbClr val="3A1E18"/>
          </a:solidFill>
          <a:ln w="12700">
            <a:solidFill>
              <a:srgbClr val="FF916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82512" y="4800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876288" y="4727448"/>
            <a:ext cx="44010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Конфликт — это выбор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876288" y="5148072"/>
            <a:ext cx="440100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Сохранить систему взаимодействий неизменной — или изменить её.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10984687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5836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конфликта</a:t>
            </a:r>
            <a:endParaRPr lang="en-US" sz="95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58368" y="566928"/>
            <a:ext cx="91440" cy="91440"/>
          </a:xfrm>
          <a:prstGeom prst="ellipse">
            <a:avLst/>
          </a:prstGeom>
          <a:solidFill>
            <a:srgbClr val="6BBB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41248" y="475488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ОБЩАЯ СХЕМА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841248"/>
            <a:ext cx="108749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Структура конфликта</a:t>
            </a:r>
            <a:endParaRPr lang="en-US" sz="33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1737360"/>
            <a:ext cx="108749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— это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совокупность устойчивых связей</a:t>
            </a:r>
            <a:r>
              <a:rPr lang="en-US" sz="1350" dirty="0">
                <a:solidFill>
                  <a:srgbClr val="D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которые обеспечивают целостность конфликта. Каждая подструктура включает как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явные</a:t>
            </a:r>
            <a:r>
              <a:rPr lang="en-US" sz="1350" dirty="0">
                <a:solidFill>
                  <a:srgbClr val="D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так и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скрытые</a:t>
            </a:r>
            <a:r>
              <a:rPr lang="en-US" sz="1350" dirty="0">
                <a:solidFill>
                  <a:srgbClr val="D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элементы.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58368" y="2651760"/>
            <a:ext cx="3246120" cy="2286000"/>
          </a:xfrm>
          <a:prstGeom prst="roundRect">
            <a:avLst>
              <a:gd name="adj" fmla="val 4000"/>
            </a:avLst>
          </a:prstGeom>
          <a:solidFill>
            <a:srgbClr val="12294A">
              <a:alpha val="82000"/>
            </a:srgbClr>
          </a:solidFill>
          <a:ln w="15875">
            <a:solidFill>
              <a:srgbClr val="3E7FC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32688" y="2880360"/>
            <a:ext cx="384048" cy="384048"/>
          </a:xfrm>
          <a:prstGeom prst="ellipse">
            <a:avLst/>
          </a:prstGeom>
          <a:solidFill>
            <a:srgbClr val="12294A"/>
          </a:solidFill>
          <a:ln w="12700">
            <a:solidFill>
              <a:srgbClr val="6BBB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32688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B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32688" y="34290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B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Объективная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3849624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Внешние, фактические обстоятельства. Существуют независимо от того, как их видят участники.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24528" y="2651760"/>
            <a:ext cx="3246120" cy="2286000"/>
          </a:xfrm>
          <a:prstGeom prst="roundRect">
            <a:avLst>
              <a:gd name="adj" fmla="val 4000"/>
            </a:avLst>
          </a:prstGeom>
          <a:solidFill>
            <a:srgbClr val="3A1E18">
              <a:alpha val="82000"/>
            </a:srgbClr>
          </a:solidFill>
          <a:ln w="15875">
            <a:solidFill>
              <a:srgbClr val="C4603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98848" y="2880360"/>
            <a:ext cx="384048" cy="384048"/>
          </a:xfrm>
          <a:prstGeom prst="ellipse">
            <a:avLst/>
          </a:prstGeom>
          <a:solidFill>
            <a:srgbClr val="3A1E18"/>
          </a:solidFill>
          <a:ln w="12700">
            <a:solidFill>
              <a:srgbClr val="FF916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98848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498848" y="34290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9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Субъективная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4498848" y="3849624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Внутренние, психологические компоненты. Складываются в сознании участников.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6BBBFF">
              <a:alpha val="12000"/>
            </a:srgbClr>
          </a:solidFill>
          <a:ln w="15240">
            <a:solidFill>
              <a:srgbClr val="6BBB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06840" y="2286000"/>
            <a:ext cx="2286000" cy="2286000"/>
          </a:xfrm>
          <a:prstGeom prst="ellipse">
            <a:avLst/>
          </a:prstGeom>
          <a:solidFill>
            <a:srgbClr val="FF9166">
              <a:alpha val="12000"/>
            </a:srgbClr>
          </a:solidFill>
          <a:ln w="15240">
            <a:solidFill>
              <a:srgbClr val="FF916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699248" y="3246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ФАКТЫ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0259568" y="32461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ОБРАЗЫ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006840" y="315468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КОНФЛИКТ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984687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5836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конфликта</a:t>
            </a:r>
            <a:endParaRPr lang="en-US" sz="95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58368" y="566928"/>
            <a:ext cx="91440" cy="91440"/>
          </a:xfrm>
          <a:prstGeom prst="ellipse">
            <a:avLst/>
          </a:prstGeom>
          <a:solidFill>
            <a:srgbClr val="6BBB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41248" y="475488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АВТОРЫ ПОДХОДА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841248"/>
            <a:ext cx="108749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Анцупов и Шипилов</a:t>
            </a:r>
            <a:endParaRPr lang="en-US" sz="33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1737360"/>
            <a:ext cx="108749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Авторы учебника «Конфликтология» — одного из базовых в российской традиции. Они предложили рассматривать структуру конфликта как систему из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двух взаимосвязанных подструктур</a:t>
            </a:r>
            <a:r>
              <a:rPr lang="en-US" sz="1350" dirty="0">
                <a:solidFill>
                  <a:srgbClr val="D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58368" y="274320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12294A">
              <a:alpha val="82000"/>
            </a:srgbClr>
          </a:solidFill>
          <a:ln w="15875">
            <a:solidFill>
              <a:srgbClr val="3E7FC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24128" y="3090672"/>
            <a:ext cx="1005840" cy="1005840"/>
          </a:xfrm>
          <a:prstGeom prst="ellipse">
            <a:avLst/>
          </a:prstGeom>
          <a:solidFill>
            <a:srgbClr val="0A0C1A"/>
          </a:solidFill>
          <a:ln w="15240">
            <a:solidFill>
              <a:srgbClr val="3E7F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24128" y="309067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B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АЯ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2231136" y="331012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А. Я. Анцупов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2231136" y="373075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Соавтор структурного подхода к анализу конфликта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81928" y="274320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3A1E18">
              <a:alpha val="82000"/>
            </a:srgbClr>
          </a:solidFill>
          <a:ln w="15875">
            <a:solidFill>
              <a:srgbClr val="C4603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647688" y="3090672"/>
            <a:ext cx="1005840" cy="1005840"/>
          </a:xfrm>
          <a:prstGeom prst="ellipse">
            <a:avLst/>
          </a:prstGeom>
          <a:solidFill>
            <a:srgbClr val="0A0C1A"/>
          </a:solidFill>
          <a:ln w="15240">
            <a:solidFill>
              <a:srgbClr val="C4603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647688" y="309067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АИ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7854696" y="331012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А. И. Шипилов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854696" y="373075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Соавтор структурного подхода к анализу конфликта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" y="4800600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— совокупность устойчивых связей, обеспечивающих целостность конфликта. В каждой подструктуре есть явные и скрытые элементы.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984687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5836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конфликта</a:t>
            </a:r>
            <a:endParaRPr lang="en-US" sz="95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58368" y="566928"/>
            <a:ext cx="91440" cy="91440"/>
          </a:xfrm>
          <a:prstGeom prst="ellipse">
            <a:avLst/>
          </a:prstGeom>
          <a:solidFill>
            <a:srgbClr val="6BBB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41248" y="475488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ОБЪЕКТИВНАЯ ПОДСТРУКТУРА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841248"/>
            <a:ext cx="108749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внешних элементов</a:t>
            </a:r>
            <a:endParaRPr lang="en-US" sz="33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1719072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Отражает внешние, фактические обстоятельства конфликта,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независимые от индивидуального восприятия</a:t>
            </a:r>
            <a:r>
              <a:rPr lang="en-US" sz="1300" dirty="0">
                <a:solidFill>
                  <a:srgbClr val="D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его участников.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58368" y="2743200"/>
            <a:ext cx="1999427" cy="2423160"/>
          </a:xfrm>
          <a:prstGeom prst="roundRect">
            <a:avLst>
              <a:gd name="adj" fmla="val 4573"/>
            </a:avLst>
          </a:prstGeom>
          <a:solidFill>
            <a:srgbClr val="12294A">
              <a:alpha val="82000"/>
            </a:srgbClr>
          </a:solidFill>
          <a:ln w="15875">
            <a:solidFill>
              <a:srgbClr val="3E7FC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7824" y="2999232"/>
            <a:ext cx="365760" cy="365760"/>
          </a:xfrm>
          <a:prstGeom prst="ellipse">
            <a:avLst/>
          </a:prstGeom>
          <a:solidFill>
            <a:srgbClr val="12294A"/>
          </a:solidFill>
          <a:ln w="12700">
            <a:solidFill>
              <a:srgbClr val="6BBB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7824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B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3566160"/>
            <a:ext cx="15605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6B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Участники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3986784"/>
            <a:ext cx="15605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Противоборствующие стороны, группы поддержки, наблюдатели.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877251" y="2743200"/>
            <a:ext cx="1999427" cy="2423160"/>
          </a:xfrm>
          <a:prstGeom prst="roundRect">
            <a:avLst>
              <a:gd name="adj" fmla="val 4573"/>
            </a:avLst>
          </a:prstGeom>
          <a:solidFill>
            <a:srgbClr val="12294A">
              <a:alpha val="82000"/>
            </a:srgbClr>
          </a:solidFill>
          <a:ln w="15875">
            <a:solidFill>
              <a:srgbClr val="3E7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96707" y="2999232"/>
            <a:ext cx="365760" cy="365760"/>
          </a:xfrm>
          <a:prstGeom prst="ellipse">
            <a:avLst/>
          </a:prstGeom>
          <a:solidFill>
            <a:srgbClr val="12294A"/>
          </a:solidFill>
          <a:ln w="12700">
            <a:solidFill>
              <a:srgbClr val="6BBB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96707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B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096707" y="3566160"/>
            <a:ext cx="15605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6B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3096707" y="3986784"/>
            <a:ext cx="15605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То, из-за чего возникает противостояние: ресурс, статус, принцип.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96134" y="2743200"/>
            <a:ext cx="1999427" cy="2423160"/>
          </a:xfrm>
          <a:prstGeom prst="roundRect">
            <a:avLst>
              <a:gd name="adj" fmla="val 4573"/>
            </a:avLst>
          </a:prstGeom>
          <a:solidFill>
            <a:srgbClr val="12294A">
              <a:alpha val="82000"/>
            </a:srgbClr>
          </a:solidFill>
          <a:ln w="15875">
            <a:solidFill>
              <a:srgbClr val="3E7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15590" y="2999232"/>
            <a:ext cx="365760" cy="365760"/>
          </a:xfrm>
          <a:prstGeom prst="ellipse">
            <a:avLst/>
          </a:prstGeom>
          <a:solidFill>
            <a:srgbClr val="12294A"/>
          </a:solidFill>
          <a:ln w="12700">
            <a:solidFill>
              <a:srgbClr val="6BBB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315590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B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315590" y="3566160"/>
            <a:ext cx="15605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6B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</a:t>
            </a:r>
            <a:endParaRPr lang="en-US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5315590" y="3986784"/>
            <a:ext cx="15605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Основное противоречие, из-за которого стороны вступают в борьбу.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315017" y="2743200"/>
            <a:ext cx="1999427" cy="2423160"/>
          </a:xfrm>
          <a:prstGeom prst="roundRect">
            <a:avLst>
              <a:gd name="adj" fmla="val 4573"/>
            </a:avLst>
          </a:prstGeom>
          <a:solidFill>
            <a:srgbClr val="12294A">
              <a:alpha val="82000"/>
            </a:srgbClr>
          </a:solidFill>
          <a:ln w="15875">
            <a:solidFill>
              <a:srgbClr val="3E7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534473" y="2999232"/>
            <a:ext cx="365760" cy="365760"/>
          </a:xfrm>
          <a:prstGeom prst="ellipse">
            <a:avLst/>
          </a:prstGeom>
          <a:solidFill>
            <a:srgbClr val="12294A"/>
          </a:solidFill>
          <a:ln w="12700">
            <a:solidFill>
              <a:srgbClr val="6BBB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534473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B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7534473" y="3566160"/>
            <a:ext cx="15605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6B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Микросреда</a:t>
            </a:r>
            <a:endParaRPr lang="en-US" sz="1450" dirty="0"/>
          </a:p>
        </p:txBody>
      </p:sp>
      <p:sp>
        <p:nvSpPr>
          <p:cNvPr id="26" name="Text 23"/>
          <p:cNvSpPr txBox="1"/>
          <p:nvPr/>
        </p:nvSpPr>
        <p:spPr>
          <a:xfrm>
            <a:off x="7534473" y="3986784"/>
            <a:ext cx="15605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Непосредственное окружение: место, время, климат в группе.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9533900" y="2743200"/>
            <a:ext cx="1999427" cy="2423160"/>
          </a:xfrm>
          <a:prstGeom prst="roundRect">
            <a:avLst>
              <a:gd name="adj" fmla="val 4573"/>
            </a:avLst>
          </a:prstGeom>
          <a:solidFill>
            <a:srgbClr val="12294A">
              <a:alpha val="82000"/>
            </a:srgbClr>
          </a:solidFill>
          <a:ln w="15875">
            <a:solidFill>
              <a:srgbClr val="3E7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753356" y="2999232"/>
            <a:ext cx="365760" cy="365760"/>
          </a:xfrm>
          <a:prstGeom prst="ellipse">
            <a:avLst/>
          </a:prstGeom>
          <a:solidFill>
            <a:srgbClr val="12294A"/>
          </a:solidFill>
          <a:ln w="12700">
            <a:solidFill>
              <a:srgbClr val="6BBB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753356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B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9753356" y="3566160"/>
            <a:ext cx="15605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6B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Макросреда</a:t>
            </a:r>
            <a:endParaRPr lang="en-US" sz="1450" dirty="0"/>
          </a:p>
        </p:txBody>
      </p:sp>
      <p:sp>
        <p:nvSpPr>
          <p:cNvPr id="31" name="Text 28"/>
          <p:cNvSpPr txBox="1"/>
          <p:nvPr/>
        </p:nvSpPr>
        <p:spPr>
          <a:xfrm>
            <a:off x="9753356" y="3986784"/>
            <a:ext cx="15605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Социальный, культурный, экономический и политический контекст.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10984687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65836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конфликта</a:t>
            </a:r>
            <a:endParaRPr lang="en-US" sz="95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58368" y="566928"/>
            <a:ext cx="91440" cy="91440"/>
          </a:xfrm>
          <a:prstGeom prst="ellipse">
            <a:avLst/>
          </a:prstGeom>
          <a:solidFill>
            <a:srgbClr val="6BBB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41248" y="475488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04.1 · ОБЪЕКТИВНАЯ ПОДСТРУКТУРА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841248"/>
            <a:ext cx="108749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Участники конфликта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58368" y="1920240"/>
            <a:ext cx="146304" cy="22860"/>
          </a:xfrm>
          <a:prstGeom prst="rect">
            <a:avLst/>
          </a:prstGeom>
          <a:solidFill>
            <a:srgbClr val="6BBBFF"/>
          </a:solidFill>
          <a:ln w="12700">
            <a:solidFill>
              <a:srgbClr val="6BBB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32688" y="1828800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Противоборствующие стороны</a:t>
            </a:r>
            <a:r>
              <a:rPr lang="en-US" sz="1250" dirty="0">
                <a:solidFill>
                  <a:srgbClr val="D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те, кто непосредственно «столкнулся лбами».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" y="2523744"/>
            <a:ext cx="146304" cy="22860"/>
          </a:xfrm>
          <a:prstGeom prst="rect">
            <a:avLst/>
          </a:prstGeom>
          <a:solidFill>
            <a:srgbClr val="6BBBFF"/>
          </a:solidFill>
          <a:ln w="12700">
            <a:solidFill>
              <a:srgbClr val="6BBB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32688" y="2432304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Группы поддержки</a:t>
            </a:r>
            <a:r>
              <a:rPr lang="en-US" sz="1250" dirty="0">
                <a:solidFill>
                  <a:srgbClr val="D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те, кто прямо или косвенно содействует одной из сторон.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58368" y="3127248"/>
            <a:ext cx="146304" cy="22860"/>
          </a:xfrm>
          <a:prstGeom prst="rect">
            <a:avLst/>
          </a:prstGeom>
          <a:solidFill>
            <a:srgbClr val="6BBBFF"/>
          </a:solidFill>
          <a:ln w="12700">
            <a:solidFill>
              <a:srgbClr val="6BBB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32688" y="3035808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Наблюдатели</a:t>
            </a:r>
            <a:r>
              <a:rPr lang="en-US" sz="1250" dirty="0">
                <a:solidFill>
                  <a:srgbClr val="D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другие вовлечённые лица.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58368" y="3840480"/>
            <a:ext cx="5760720" cy="1600200"/>
          </a:xfrm>
          <a:prstGeom prst="roundRect">
            <a:avLst>
              <a:gd name="adj" fmla="val 5714"/>
            </a:avLst>
          </a:prstGeom>
          <a:solidFill>
            <a:srgbClr val="12294A">
              <a:alpha val="82000"/>
            </a:srgbClr>
          </a:solidFill>
          <a:ln w="15875">
            <a:solidFill>
              <a:srgbClr val="3E7FC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32688" y="40416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Важный нюанс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32688" y="43891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Сторона — это не просто жертва или наблюдатель. Это тот, кто имеет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свою позицию и силу</a:t>
            </a:r>
            <a:r>
              <a:rPr lang="en-US" sz="110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Третьи лица (подстрекатели, союзники) не являются сторонами, пока не начнут действовать открыто.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281160" y="2697480"/>
            <a:ext cx="0" cy="2468880"/>
          </a:xfrm>
          <a:prstGeom prst="line">
            <a:avLst/>
          </a:prstGeom>
          <a:noFill/>
          <a:ln w="12700">
            <a:solidFill>
              <a:srgbClr val="33415C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8046720" y="2971800"/>
            <a:ext cx="1005840" cy="1005840"/>
          </a:xfrm>
          <a:prstGeom prst="ellipse">
            <a:avLst/>
          </a:prstGeom>
          <a:solidFill>
            <a:srgbClr val="12294A"/>
          </a:solidFill>
          <a:ln w="17780">
            <a:solidFill>
              <a:srgbClr val="6BBB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46720" y="2971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B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9509760" y="2971800"/>
            <a:ext cx="1005840" cy="1005840"/>
          </a:xfrm>
          <a:prstGeom prst="ellipse">
            <a:avLst/>
          </a:prstGeom>
          <a:solidFill>
            <a:srgbClr val="3A1E18"/>
          </a:solidFill>
          <a:ln w="17780">
            <a:solidFill>
              <a:srgbClr val="FF916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509760" y="2971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086600" y="4315968"/>
            <a:ext cx="621792" cy="621792"/>
          </a:xfrm>
          <a:prstGeom prst="ellipse">
            <a:avLst/>
          </a:prstGeom>
          <a:solidFill>
            <a:srgbClr val="111827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863072" y="4315968"/>
            <a:ext cx="621792" cy="621792"/>
          </a:xfrm>
          <a:prstGeom prst="ellipse">
            <a:avLst/>
          </a:prstGeom>
          <a:solidFill>
            <a:srgbClr val="111827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12280" y="499262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поддержки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0588752" y="499262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поддержки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9006840" y="2011680"/>
            <a:ext cx="548640" cy="548640"/>
          </a:xfrm>
          <a:prstGeom prst="ellipse">
            <a:avLst/>
          </a:prstGeom>
          <a:solidFill>
            <a:srgbClr val="0A0C1A"/>
          </a:solidFill>
          <a:ln w="12700">
            <a:solidFill>
              <a:srgbClr val="33415C"/>
            </a:solidFill>
            <a:prstDash val="dash"/>
          </a:ln>
        </p:spPr>
      </p:sp>
      <p:sp>
        <p:nvSpPr>
          <p:cNvPr id="25" name="Text 22"/>
          <p:cNvSpPr txBox="1"/>
          <p:nvPr/>
        </p:nvSpPr>
        <p:spPr>
          <a:xfrm>
            <a:off x="8595360" y="1682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наблюдатели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0984687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65836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конфликта</a:t>
            </a:r>
            <a:endParaRPr lang="en-US" sz="95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47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7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58368" y="566928"/>
            <a:ext cx="91440" cy="91440"/>
          </a:xfrm>
          <a:prstGeom prst="ellipse">
            <a:avLst/>
          </a:prstGeom>
          <a:solidFill>
            <a:srgbClr val="6BBB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41248" y="475488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04.2 · ОБЪЕКТИВНАЯ ПОДСТРУКТУРА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841248"/>
            <a:ext cx="108749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Объект конфликта</a:t>
            </a:r>
            <a:endParaRPr lang="en-US" sz="33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1719072"/>
            <a:ext cx="10874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То, что находится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борьбы</a:t>
            </a:r>
            <a:r>
              <a:rPr lang="en-US" sz="1300" dirty="0">
                <a:solidFill>
                  <a:srgbClr val="D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реальная ценность, которую хотят заполучить или сохранить. Объект может быть как реальным, так и идеальным.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58368" y="2514600"/>
            <a:ext cx="3442106" cy="1371600"/>
          </a:xfrm>
          <a:prstGeom prst="roundRect">
            <a:avLst>
              <a:gd name="adj" fmla="val 6667"/>
            </a:avLst>
          </a:prstGeom>
          <a:solidFill>
            <a:srgbClr val="12294A">
              <a:alpha val="82000"/>
            </a:srgbClr>
          </a:solidFill>
          <a:ln w="15875">
            <a:solidFill>
              <a:srgbClr val="3E7FC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32688" y="2724912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B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Материальный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32688" y="3127248"/>
            <a:ext cx="28934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территория · деньги · ресурс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74794" y="2514600"/>
            <a:ext cx="3442106" cy="1371600"/>
          </a:xfrm>
          <a:prstGeom prst="roundRect">
            <a:avLst>
              <a:gd name="adj" fmla="val 6667"/>
            </a:avLst>
          </a:prstGeom>
          <a:solidFill>
            <a:srgbClr val="12294A">
              <a:alpha val="82000"/>
            </a:srgbClr>
          </a:solidFill>
          <a:ln w="15875">
            <a:solidFill>
              <a:srgbClr val="3E7FC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49114" y="2724912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B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Статусный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649114" y="3127248"/>
            <a:ext cx="28934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должность · право голоса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91221" y="2514600"/>
            <a:ext cx="3442106" cy="1371600"/>
          </a:xfrm>
          <a:prstGeom prst="roundRect">
            <a:avLst>
              <a:gd name="adj" fmla="val 6667"/>
            </a:avLst>
          </a:prstGeom>
          <a:solidFill>
            <a:srgbClr val="3A1E18">
              <a:alpha val="82000"/>
            </a:srgbClr>
          </a:solidFill>
          <a:ln w="15875">
            <a:solidFill>
              <a:srgbClr val="C4603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365541" y="2724912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9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Идеальный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365541" y="3127248"/>
            <a:ext cx="28934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власть · уважение · справедливость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58368" y="4160520"/>
            <a:ext cx="10874959" cy="1143000"/>
          </a:xfrm>
          <a:prstGeom prst="roundRect">
            <a:avLst>
              <a:gd name="adj" fmla="val 8000"/>
            </a:avLst>
          </a:prstGeom>
          <a:solidFill>
            <a:srgbClr val="3A1E18">
              <a:alpha val="82000"/>
            </a:srgbClr>
          </a:solidFill>
          <a:ln w="15875">
            <a:solidFill>
              <a:srgbClr val="C4603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24128" y="4462272"/>
            <a:ext cx="101434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объекта нет</a:t>
            </a:r>
            <a:r>
              <a:rPr lang="en-US" sz="13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конфликт превращается в пустую перепалку: сторонам не за что бороться, остаётся только эмоциональное напряжение.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10984687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5836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конфликта</a:t>
            </a:r>
            <a:endParaRPr lang="en-US" sz="95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58368" y="566928"/>
            <a:ext cx="91440" cy="91440"/>
          </a:xfrm>
          <a:prstGeom prst="ellipse">
            <a:avLst/>
          </a:prstGeom>
          <a:solidFill>
            <a:srgbClr val="6BBB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41248" y="475488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04.3 · ОБЪЕКТИВНАЯ ПОДСТРУКТУРА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841248"/>
            <a:ext cx="108749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Предмет ≠ объект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58368" y="1783080"/>
            <a:ext cx="5208880" cy="3520440"/>
          </a:xfrm>
          <a:prstGeom prst="roundRect">
            <a:avLst>
              <a:gd name="adj" fmla="val 2597"/>
            </a:avLst>
          </a:prstGeom>
          <a:solidFill>
            <a:srgbClr val="12294A">
              <a:alpha val="82000"/>
            </a:srgbClr>
          </a:solidFill>
          <a:ln w="15875">
            <a:solidFill>
              <a:srgbClr val="3E7FC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78408" y="2011680"/>
            <a:ext cx="456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B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Объект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978408" y="2606040"/>
            <a:ext cx="456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978408" y="2825496"/>
            <a:ext cx="456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Из-за чего в принципе идёт борьба?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978408" y="3273552"/>
            <a:ext cx="456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ПРИРОДА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978408" y="3493008"/>
            <a:ext cx="456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Ценность, которую хотят получить или сохранить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978408" y="3941064"/>
            <a:ext cx="456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УСТОЙЧИВОСТЬ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78408" y="4160520"/>
            <a:ext cx="456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правило, остаётся неизменным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978408" y="4608576"/>
            <a:ext cx="456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978408" y="4828032"/>
            <a:ext cx="456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Квартира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324448" y="1783080"/>
            <a:ext cx="5208880" cy="3520440"/>
          </a:xfrm>
          <a:prstGeom prst="roundRect">
            <a:avLst>
              <a:gd name="adj" fmla="val 2597"/>
            </a:avLst>
          </a:prstGeom>
          <a:solidFill>
            <a:srgbClr val="3A1E18">
              <a:alpha val="82000"/>
            </a:srgbClr>
          </a:solidFill>
          <a:ln w="15875">
            <a:solidFill>
              <a:srgbClr val="C4603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44488" y="2011680"/>
            <a:ext cx="456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9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Предмет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6644488" y="2606040"/>
            <a:ext cx="456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6644488" y="2825496"/>
            <a:ext cx="456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Из-за чего спор возник здесь и сейчас?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6644488" y="3273552"/>
            <a:ext cx="456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ПРИРОДА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644488" y="3493008"/>
            <a:ext cx="456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Основное противоречие, «фокус» столкновения интересов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6644488" y="3941064"/>
            <a:ext cx="456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УСТОЙЧИВОСТЬ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6644488" y="4160520"/>
            <a:ext cx="456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Может меняться по ходу выяснения отношений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6644488" y="4608576"/>
            <a:ext cx="456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6644488" y="4828032"/>
            <a:ext cx="456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будет в ней жить после развода и как делить метры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658368" y="5486400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 не всегда совпадает с объектом и может быть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скрытым или неосознанным</a:t>
            </a:r>
            <a:r>
              <a:rPr lang="en-US" sz="12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стороны спорят о метрах, а на деле борются за признание.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10984687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65836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конфликта</a:t>
            </a:r>
            <a:endParaRPr lang="en-US" sz="95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58368" y="566928"/>
            <a:ext cx="91440" cy="91440"/>
          </a:xfrm>
          <a:prstGeom prst="ellipse">
            <a:avLst/>
          </a:prstGeom>
          <a:solidFill>
            <a:srgbClr val="6BBB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41248" y="475488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04.4 · ОБЪЕКТИВНАЯ ПОДСТРУКТУРА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841248"/>
            <a:ext cx="108749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Среда конфликта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58368" y="1828800"/>
            <a:ext cx="5231740" cy="3566160"/>
          </a:xfrm>
          <a:prstGeom prst="roundRect">
            <a:avLst>
              <a:gd name="adj" fmla="val 2564"/>
            </a:avLst>
          </a:prstGeom>
          <a:solidFill>
            <a:srgbClr val="12294A">
              <a:alpha val="82000"/>
            </a:srgbClr>
          </a:solidFill>
          <a:ln w="15875">
            <a:solidFill>
              <a:srgbClr val="3E7FC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20848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6BB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Микро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2761488" y="2212848"/>
            <a:ext cx="27628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ближайшее окружение, влияющее «изнутри»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2926080"/>
            <a:ext cx="45367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Семья, друзья, коллеги по отделу, соседи. Локация, временные рамки, социально-психологический климат в группе участников.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3931920"/>
            <a:ext cx="45367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Может подогревать страсти («Да он тебя не уважает!») или, наоборот, гасить их. Это люди, с которыми стороны контактируют напрямую и чьё мнение для них важно.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1588" y="1828800"/>
            <a:ext cx="5231740" cy="3566160"/>
          </a:xfrm>
          <a:prstGeom prst="roundRect">
            <a:avLst>
              <a:gd name="adj" fmla="val 2564"/>
            </a:avLst>
          </a:prstGeom>
          <a:solidFill>
            <a:srgbClr val="3A1E18">
              <a:alpha val="82000"/>
            </a:srgbClr>
          </a:solidFill>
          <a:ln w="15875">
            <a:solidFill>
              <a:srgbClr val="C4603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49060" y="20848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9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Макро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8404708" y="2212848"/>
            <a:ext cx="27628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«большой мир», задающий правила игры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649060" y="2926080"/>
            <a:ext cx="45367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Социальные, экономические, политические и культурные условия: законы, традиции, уровень напряжённости в обществе.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649060" y="3931920"/>
            <a:ext cx="45367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в стране кризис и безработица, конфликт на работе из-за премии протекает иначе. Макросреда может сдерживать конфликт или раздувать его до неконтролируемых масштабов.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0984687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конфликта</a:t>
            </a:r>
            <a:endParaRPr lang="en-US" sz="95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58368" y="566928"/>
            <a:ext cx="91440" cy="91440"/>
          </a:xfrm>
          <a:prstGeom prst="ellipse">
            <a:avLst/>
          </a:prstGeom>
          <a:solidFill>
            <a:srgbClr val="FF9166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41248" y="475488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СУБЪЕКТИВНАЯ ПОДСТРУКТУРА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841248"/>
            <a:ext cx="108749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Шесть внутренних элементов</a:t>
            </a:r>
            <a:endParaRPr lang="en-US" sz="33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1719072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Психологические компоненты, которые формируются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сознании участников</a:t>
            </a:r>
            <a:r>
              <a:rPr lang="en-US" sz="1300" dirty="0">
                <a:solidFill>
                  <a:srgbClr val="D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определяют динамику конфликтного взаимодействия.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58368" y="2487168"/>
            <a:ext cx="3454298" cy="1298448"/>
          </a:xfrm>
          <a:prstGeom prst="roundRect">
            <a:avLst>
              <a:gd name="adj" fmla="val 7042"/>
            </a:avLst>
          </a:prstGeom>
          <a:solidFill>
            <a:srgbClr val="3A1E18">
              <a:alpha val="82000"/>
            </a:srgbClr>
          </a:solidFill>
          <a:ln w="15875">
            <a:solidFill>
              <a:srgbClr val="C4603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6112" y="2706624"/>
            <a:ext cx="329184" cy="329184"/>
          </a:xfrm>
          <a:prstGeom prst="ellipse">
            <a:avLst/>
          </a:prstGeom>
          <a:solidFill>
            <a:srgbClr val="3A1E18"/>
          </a:solidFill>
          <a:ln w="12700">
            <a:solidFill>
              <a:srgbClr val="FF916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6112" y="2706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316736" y="2670048"/>
            <a:ext cx="2558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9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Психологические модели ситуации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316736" y="3090672"/>
            <a:ext cx="255818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Своя картина происходящего у каждого участника.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68698" y="2487168"/>
            <a:ext cx="3454298" cy="1298448"/>
          </a:xfrm>
          <a:prstGeom prst="roundRect">
            <a:avLst>
              <a:gd name="adj" fmla="val 7042"/>
            </a:avLst>
          </a:prstGeom>
          <a:solidFill>
            <a:srgbClr val="3A1E18">
              <a:alpha val="82000"/>
            </a:srgbClr>
          </a:solidFill>
          <a:ln w="15875">
            <a:solidFill>
              <a:srgbClr val="C4603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06442" y="2706624"/>
            <a:ext cx="329184" cy="329184"/>
          </a:xfrm>
          <a:prstGeom prst="ellipse">
            <a:avLst/>
          </a:prstGeom>
          <a:solidFill>
            <a:srgbClr val="3A1E18"/>
          </a:solidFill>
          <a:ln w="12700">
            <a:solidFill>
              <a:srgbClr val="FF916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06442" y="2706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027066" y="2670048"/>
            <a:ext cx="2558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9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Мотивы действий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027066" y="3090672"/>
            <a:ext cx="255818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Внутренние побуждения к конфликтному поведению.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79029" y="2487168"/>
            <a:ext cx="3454298" cy="1298448"/>
          </a:xfrm>
          <a:prstGeom prst="roundRect">
            <a:avLst>
              <a:gd name="adj" fmla="val 7042"/>
            </a:avLst>
          </a:prstGeom>
          <a:solidFill>
            <a:srgbClr val="3A1E18">
              <a:alpha val="82000"/>
            </a:srgbClr>
          </a:solidFill>
          <a:ln w="15875">
            <a:solidFill>
              <a:srgbClr val="C4603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16773" y="2706624"/>
            <a:ext cx="329184" cy="329184"/>
          </a:xfrm>
          <a:prstGeom prst="ellipse">
            <a:avLst/>
          </a:prstGeom>
          <a:solidFill>
            <a:srgbClr val="3A1E18"/>
          </a:solidFill>
          <a:ln w="12700">
            <a:solidFill>
              <a:srgbClr val="FF916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16773" y="2706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737397" y="2670048"/>
            <a:ext cx="2558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9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участников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737397" y="3090672"/>
            <a:ext cx="255818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Представления о том, чего они хотят добиться.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58368" y="4059936"/>
            <a:ext cx="3454298" cy="1298448"/>
          </a:xfrm>
          <a:prstGeom prst="roundRect">
            <a:avLst>
              <a:gd name="adj" fmla="val 7042"/>
            </a:avLst>
          </a:prstGeom>
          <a:solidFill>
            <a:srgbClr val="3A1E18">
              <a:alpha val="82000"/>
            </a:srgbClr>
          </a:solidFill>
          <a:ln w="15875">
            <a:solidFill>
              <a:srgbClr val="C4603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96112" y="4279392"/>
            <a:ext cx="329184" cy="329184"/>
          </a:xfrm>
          <a:prstGeom prst="ellipse">
            <a:avLst/>
          </a:prstGeom>
          <a:solidFill>
            <a:srgbClr val="3A1E18"/>
          </a:solidFill>
          <a:ln w="12700">
            <a:solidFill>
              <a:srgbClr val="FF916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96112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316736" y="4242816"/>
            <a:ext cx="2558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9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Психические состояния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316736" y="4663440"/>
            <a:ext cx="255818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Эмоциональный фон, напряжение, стрессовые реакции.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368698" y="4059936"/>
            <a:ext cx="3454298" cy="1298448"/>
          </a:xfrm>
          <a:prstGeom prst="roundRect">
            <a:avLst>
              <a:gd name="adj" fmla="val 7042"/>
            </a:avLst>
          </a:prstGeom>
          <a:solidFill>
            <a:srgbClr val="3A1E18">
              <a:alpha val="82000"/>
            </a:srgbClr>
          </a:solidFill>
          <a:ln w="15875">
            <a:solidFill>
              <a:srgbClr val="C4603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06442" y="4279392"/>
            <a:ext cx="329184" cy="329184"/>
          </a:xfrm>
          <a:prstGeom prst="ellipse">
            <a:avLst/>
          </a:prstGeom>
          <a:solidFill>
            <a:srgbClr val="3A1E18"/>
          </a:solidFill>
          <a:ln w="12700">
            <a:solidFill>
              <a:srgbClr val="FF916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606442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5027066" y="4242816"/>
            <a:ext cx="2558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9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Образы оппонента и себя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5027066" y="4663440"/>
            <a:ext cx="255818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Когнитивные конструкции, часто искажённые.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079029" y="4059936"/>
            <a:ext cx="3454298" cy="1298448"/>
          </a:xfrm>
          <a:prstGeom prst="roundRect">
            <a:avLst>
              <a:gd name="adj" fmla="val 7042"/>
            </a:avLst>
          </a:prstGeom>
          <a:solidFill>
            <a:srgbClr val="3A1E18">
              <a:alpha val="82000"/>
            </a:srgbClr>
          </a:solidFill>
          <a:ln w="15875">
            <a:solidFill>
              <a:srgbClr val="C4603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316773" y="4279392"/>
            <a:ext cx="329184" cy="329184"/>
          </a:xfrm>
          <a:prstGeom prst="ellipse">
            <a:avLst/>
          </a:prstGeom>
          <a:solidFill>
            <a:srgbClr val="3A1E18"/>
          </a:solidFill>
          <a:ln w="12700">
            <a:solidFill>
              <a:srgbClr val="FF916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316773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8737397" y="4242816"/>
            <a:ext cx="2558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9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Вероятные результаты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8737397" y="4663440"/>
            <a:ext cx="255818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Исходы борьбы, которые участники мысленно моделируют.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10984687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65836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конфликта</a:t>
            </a:r>
            <a:endParaRPr lang="en-US" sz="95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58368" y="566928"/>
            <a:ext cx="91440" cy="91440"/>
          </a:xfrm>
          <a:prstGeom prst="ellipse">
            <a:avLst/>
          </a:prstGeom>
          <a:solidFill>
            <a:srgbClr val="FF9166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41248" y="475488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05.1 · СУБЪЕКТИВНАЯ ПОДСТРУКТУРА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841248"/>
            <a:ext cx="108749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Модели и образы</a:t>
            </a:r>
            <a:endParaRPr lang="en-US" sz="33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1737360"/>
            <a:ext cx="108749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участника складывается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своя картина происходящего</a:t>
            </a:r>
            <a:r>
              <a:rPr lang="en-US" sz="1250" dirty="0">
                <a:solidFill>
                  <a:srgbClr val="D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которая не всегда совпадает с объективной реальностью. Образы — это конструкции о четырёх вещах: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58368" y="2578608"/>
            <a:ext cx="146304" cy="22860"/>
          </a:xfrm>
          <a:prstGeom prst="rect">
            <a:avLst/>
          </a:prstGeom>
          <a:solidFill>
            <a:srgbClr val="FF9166"/>
          </a:solidFill>
          <a:ln w="12700">
            <a:solidFill>
              <a:srgbClr val="FF916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32688" y="248716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 оппонента</a:t>
            </a:r>
            <a:r>
              <a:rPr lang="en-US" sz="1200" dirty="0">
                <a:solidFill>
                  <a:srgbClr val="D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каким видится другая сторона.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8368" y="3035808"/>
            <a:ext cx="146304" cy="22860"/>
          </a:xfrm>
          <a:prstGeom prst="rect">
            <a:avLst/>
          </a:prstGeom>
          <a:solidFill>
            <a:srgbClr val="FF9166"/>
          </a:solidFill>
          <a:ln w="12700">
            <a:solidFill>
              <a:srgbClr val="FF916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" y="294436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 себя</a:t>
            </a:r>
            <a:r>
              <a:rPr lang="en-US" sz="1200" dirty="0">
                <a:solidFill>
                  <a:srgbClr val="D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представление о своих качествах и правоте.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58368" y="3493008"/>
            <a:ext cx="146304" cy="22860"/>
          </a:xfrm>
          <a:prstGeom prst="rect">
            <a:avLst/>
          </a:prstGeom>
          <a:solidFill>
            <a:srgbClr val="FF9166"/>
          </a:solidFill>
          <a:ln w="12700">
            <a:solidFill>
              <a:srgbClr val="FF916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340156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 объекта</a:t>
            </a:r>
            <a:r>
              <a:rPr lang="en-US" sz="1200" dirty="0">
                <a:solidFill>
                  <a:srgbClr val="D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из-за чего, по мнению участника, возник спор.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58368" y="3950208"/>
            <a:ext cx="146304" cy="22860"/>
          </a:xfrm>
          <a:prstGeom prst="rect">
            <a:avLst/>
          </a:prstGeom>
          <a:solidFill>
            <a:srgbClr val="FF9166"/>
          </a:solidFill>
          <a:ln w="12700">
            <a:solidFill>
              <a:srgbClr val="FF916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" y="385876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 предмета</a:t>
            </a:r>
            <a:r>
              <a:rPr lang="en-US" sz="1200" dirty="0">
                <a:solidFill>
                  <a:srgbClr val="D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понимание сути противоречия.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58368" y="4434840"/>
            <a:ext cx="5852160" cy="1143000"/>
          </a:xfrm>
          <a:prstGeom prst="roundRect">
            <a:avLst>
              <a:gd name="adj" fmla="val 8000"/>
            </a:avLst>
          </a:prstGeom>
          <a:solidFill>
            <a:srgbClr val="3A1E18">
              <a:alpha val="82000"/>
            </a:srgbClr>
          </a:solidFill>
          <a:ln w="15875">
            <a:solidFill>
              <a:srgbClr val="C4603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50976" y="4663440"/>
            <a:ext cx="5266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 образы часто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искажены</a:t>
            </a:r>
            <a:r>
              <a:rPr lang="en-US" sz="11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происходит «демонизация» противника, а собственные действия выглядят вынужденными и оправданными.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178040" y="228600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12294A"/>
          </a:solidFill>
          <a:ln w="15240">
            <a:solidFill>
              <a:srgbClr val="6BBB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78040" y="2542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ЕСТЬ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178040" y="28163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объективно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9555480" y="406908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3A1E18"/>
          </a:solidFill>
          <a:ln w="15240">
            <a:solidFill>
              <a:srgbClr val="FF916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555480" y="43251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ВИДНО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9555480" y="4599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субъективно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9098280" y="2852928"/>
            <a:ext cx="1417320" cy="1216152"/>
          </a:xfrm>
          <a:prstGeom prst="line">
            <a:avLst/>
          </a:prstGeom>
          <a:noFill/>
          <a:ln w="17780">
            <a:solidFill>
              <a:srgbClr val="B3C0D6"/>
            </a:solidFill>
            <a:prstDash val="dash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877824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искажение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0984687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5836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конфликта</a:t>
            </a:r>
            <a:endParaRPr lang="en-US" sz="95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58368" y="566928"/>
            <a:ext cx="91440" cy="91440"/>
          </a:xfrm>
          <a:prstGeom prst="ellipse">
            <a:avLst/>
          </a:prstGeom>
          <a:solidFill>
            <a:srgbClr val="FF9166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41248" y="475488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05.2 · СУБЪЕКТИВНАЯ ПОДСТРУКТУРА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841248"/>
            <a:ext cx="108749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Мотивы → цели → прогноз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58368" y="1920240"/>
            <a:ext cx="3429914" cy="2514600"/>
          </a:xfrm>
          <a:prstGeom prst="roundRect">
            <a:avLst>
              <a:gd name="adj" fmla="val 3636"/>
            </a:avLst>
          </a:prstGeom>
          <a:solidFill>
            <a:srgbClr val="3A1E18">
              <a:alpha val="82000"/>
            </a:srgbClr>
          </a:solidFill>
          <a:ln w="15875">
            <a:solidFill>
              <a:srgbClr val="C4603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9264" y="2176272"/>
            <a:ext cx="384048" cy="384048"/>
          </a:xfrm>
          <a:prstGeom prst="ellipse">
            <a:avLst/>
          </a:prstGeom>
          <a:solidFill>
            <a:srgbClr val="3A1E18"/>
          </a:solidFill>
          <a:ln w="12700">
            <a:solidFill>
              <a:srgbClr val="FF916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9264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69264" y="2743200"/>
            <a:ext cx="28081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9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Мотивы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969264" y="3163824"/>
            <a:ext cx="280812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Внутренние побуждения, которые толкают участников на конфликтное поведение. Часто не осознаются и не проговариваются вслух.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134002" y="3154680"/>
            <a:ext cx="201168" cy="0"/>
          </a:xfrm>
          <a:prstGeom prst="line">
            <a:avLst/>
          </a:prstGeom>
          <a:noFill/>
          <a:ln w="20320">
            <a:solidFill>
              <a:srgbClr val="C4603E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380890" y="1920240"/>
            <a:ext cx="3429914" cy="2514600"/>
          </a:xfrm>
          <a:prstGeom prst="roundRect">
            <a:avLst>
              <a:gd name="adj" fmla="val 3636"/>
            </a:avLst>
          </a:prstGeom>
          <a:solidFill>
            <a:srgbClr val="3A1E18">
              <a:alpha val="82000"/>
            </a:srgbClr>
          </a:solidFill>
          <a:ln w="15875">
            <a:solidFill>
              <a:srgbClr val="C4603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91786" y="2176272"/>
            <a:ext cx="384048" cy="384048"/>
          </a:xfrm>
          <a:prstGeom prst="ellipse">
            <a:avLst/>
          </a:prstGeom>
          <a:solidFill>
            <a:srgbClr val="3A1E18"/>
          </a:solidFill>
          <a:ln w="12700">
            <a:solidFill>
              <a:srgbClr val="FF916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91786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691786" y="2743200"/>
            <a:ext cx="28081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9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4691786" y="3163824"/>
            <a:ext cx="280812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Представления о том, чего участник хочет добиться. В отличие от мотивов — формулируются и предъявляются другой стороне.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856525" y="3154680"/>
            <a:ext cx="201168" cy="0"/>
          </a:xfrm>
          <a:prstGeom prst="line">
            <a:avLst/>
          </a:prstGeom>
          <a:noFill/>
          <a:ln w="20320">
            <a:solidFill>
              <a:srgbClr val="C4603E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103413" y="1920240"/>
            <a:ext cx="3429914" cy="2514600"/>
          </a:xfrm>
          <a:prstGeom prst="roundRect">
            <a:avLst>
              <a:gd name="adj" fmla="val 3636"/>
            </a:avLst>
          </a:prstGeom>
          <a:solidFill>
            <a:srgbClr val="3A1E18">
              <a:alpha val="82000"/>
            </a:srgbClr>
          </a:solidFill>
          <a:ln w="15875">
            <a:solidFill>
              <a:srgbClr val="C4603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14309" y="2176272"/>
            <a:ext cx="384048" cy="384048"/>
          </a:xfrm>
          <a:prstGeom prst="ellipse">
            <a:avLst/>
          </a:prstGeom>
          <a:solidFill>
            <a:srgbClr val="3A1E18"/>
          </a:solidFill>
          <a:ln w="12700">
            <a:solidFill>
              <a:srgbClr val="FF916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14309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414309" y="2743200"/>
            <a:ext cx="28081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9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Вероятные результаты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8414309" y="3163824"/>
            <a:ext cx="280812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Прогнозируемые исходы борьбы. Оценка шансов напрямую влияет на готовность идти на обострение.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58368" y="4709160"/>
            <a:ext cx="10874959" cy="960120"/>
          </a:xfrm>
          <a:prstGeom prst="roundRect">
            <a:avLst>
              <a:gd name="adj" fmla="val 9524"/>
            </a:avLst>
          </a:prstGeom>
          <a:solidFill>
            <a:srgbClr val="111827">
              <a:alpha val="82000"/>
            </a:srgbClr>
          </a:solidFill>
          <a:ln w="15875">
            <a:solidFill>
              <a:srgbClr val="33415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24128" y="4956048"/>
            <a:ext cx="101434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Расхождение между </a:t>
            </a:r>
            <a:r>
              <a:rPr lang="en-US" sz="1300" b="1" dirty="0">
                <a:solidFill>
                  <a:srgbClr val="FF9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заявленной целью</a:t>
            </a:r>
            <a:r>
              <a:rPr lang="en-US" sz="130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300" b="1" dirty="0">
                <a:solidFill>
                  <a:srgbClr val="FF9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реальным мотивом</a:t>
            </a:r>
            <a:r>
              <a:rPr lang="en-US" sz="130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одна из главных причин, по которой конфликт не разрешается «по существу».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0984687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5836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конфликта</a:t>
            </a:r>
            <a:endParaRPr lang="en-US" sz="95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58368" y="566928"/>
            <a:ext cx="91440" cy="91440"/>
          </a:xfrm>
          <a:prstGeom prst="ellipse">
            <a:avLst/>
          </a:prstGeom>
          <a:solidFill>
            <a:srgbClr val="FF9166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41248" y="475488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05.3 · СУБЪЕКТИВНАЯ ПОДСТРУКТУРА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841248"/>
            <a:ext cx="108749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Актуальные психические состояния</a:t>
            </a:r>
            <a:endParaRPr lang="en-US" sz="33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173736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Эмоциональный фон, уровень напряжения и стрессовые реакции, которые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влияют на поведение прямо в моменте</a:t>
            </a:r>
            <a:r>
              <a:rPr lang="en-US" sz="1300" dirty="0">
                <a:solidFill>
                  <a:srgbClr val="D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58368" y="2606040"/>
            <a:ext cx="146304" cy="22860"/>
          </a:xfrm>
          <a:prstGeom prst="rect">
            <a:avLst/>
          </a:prstGeom>
          <a:solidFill>
            <a:srgbClr val="FF9166"/>
          </a:solidFill>
          <a:ln w="12700">
            <a:solidFill>
              <a:srgbClr val="FF916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32688" y="251460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Высокое напряжение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сужает выбор</a:t>
            </a:r>
            <a:r>
              <a:rPr lang="en-US" sz="1250" dirty="0">
                <a:solidFill>
                  <a:srgbClr val="D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участник видит меньше вариантов выхода.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58368" y="3264408"/>
            <a:ext cx="146304" cy="22860"/>
          </a:xfrm>
          <a:prstGeom prst="rect">
            <a:avLst/>
          </a:prstGeom>
          <a:solidFill>
            <a:srgbClr val="FF9166"/>
          </a:solidFill>
          <a:ln w="12700">
            <a:solidFill>
              <a:srgbClr val="FF916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" y="3172968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Состояние меняется по ходу конфликта, поэтому одни и те же аргументы срабатывают по-разному.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58368" y="3922776"/>
            <a:ext cx="146304" cy="22860"/>
          </a:xfrm>
          <a:prstGeom prst="rect">
            <a:avLst/>
          </a:prstGeom>
          <a:solidFill>
            <a:srgbClr val="FF9166"/>
          </a:solidFill>
          <a:ln w="12700">
            <a:solidFill>
              <a:srgbClr val="FF916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3831336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единственный элемент структуры, который может измениться за минуты.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086600" y="233172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111827">
              <a:alpha val="82000"/>
            </a:srgbClr>
          </a:solidFill>
          <a:ln w="15875">
            <a:solidFill>
              <a:srgbClr val="33415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V="1">
            <a:off x="7589520" y="2880360"/>
            <a:ext cx="0" cy="1417320"/>
          </a:xfrm>
          <a:prstGeom prst="line">
            <a:avLst/>
          </a:prstGeom>
          <a:noFill/>
          <a:ln w="30480">
            <a:solidFill>
              <a:srgbClr val="FF9166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7863840" y="289864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9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напряжение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9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растёт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372600" y="2880360"/>
            <a:ext cx="0" cy="1417320"/>
          </a:xfrm>
          <a:prstGeom prst="line">
            <a:avLst/>
          </a:prstGeom>
          <a:noFill/>
          <a:ln w="30480">
            <a:solidFill>
              <a:srgbClr val="6BBBFF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9646920" y="35204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варианты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B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выхода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B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сужаются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360920" y="4453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конфликта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0984687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5836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конфликта</a:t>
            </a:r>
            <a:endParaRPr lang="en-US" sz="95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58368" y="566928"/>
            <a:ext cx="91440" cy="91440"/>
          </a:xfrm>
          <a:prstGeom prst="ellipse">
            <a:avLst/>
          </a:prstGeom>
          <a:solidFill>
            <a:srgbClr val="6BBB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41248" y="475488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КЛЮЧЕВОЙ ВЫВОД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841248"/>
            <a:ext cx="108749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Подструктуры не существуют изолированно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182880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Любая </a:t>
            </a:r>
            <a:r>
              <a:rPr lang="en-US" sz="1350" b="1" dirty="0">
                <a:solidFill>
                  <a:srgbClr val="6B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объективная причина</a:t>
            </a:r>
            <a:r>
              <a:rPr lang="en-US" sz="13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конфликта неизбежно преломляется через субъективные восприятия и оценки участников. И наоборот — </a:t>
            </a:r>
            <a:r>
              <a:rPr lang="en-US" sz="1350" b="1" dirty="0">
                <a:solidFill>
                  <a:srgbClr val="FF9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субъективные мотивы и образы</a:t>
            </a:r>
            <a:r>
              <a:rPr lang="en-US" sz="13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во многом детерминированы объективными обстоятельствами.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58368" y="3429000"/>
            <a:ext cx="5852160" cy="1691640"/>
          </a:xfrm>
          <a:prstGeom prst="roundRect">
            <a:avLst>
              <a:gd name="adj" fmla="val 5405"/>
            </a:avLst>
          </a:prstGeom>
          <a:solidFill>
            <a:srgbClr val="111827">
              <a:alpha val="82000"/>
            </a:srgbClr>
          </a:solidFill>
          <a:ln w="15875">
            <a:solidFill>
              <a:srgbClr val="33415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78408" y="370332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Поэтому для полноценного анализа конфликта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необходимо рассматривать оба пласта</a:t>
            </a:r>
            <a:r>
              <a:rPr lang="en-US" sz="12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Разбор только фактов даёт формальную картину, разбор только переживаний — не находит причины.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132320" y="1965960"/>
            <a:ext cx="1828800" cy="1828800"/>
          </a:xfrm>
          <a:prstGeom prst="ellipse">
            <a:avLst/>
          </a:prstGeom>
          <a:solidFill>
            <a:srgbClr val="6BBBFF">
              <a:alpha val="12000"/>
            </a:srgbClr>
          </a:solidFill>
          <a:ln w="16510">
            <a:solidFill>
              <a:srgbClr val="6BBB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ОБЪЕКТИВНОЕ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132320" y="29718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факты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9281160" y="3246120"/>
            <a:ext cx="1828800" cy="1828800"/>
          </a:xfrm>
          <a:prstGeom prst="ellipse">
            <a:avLst/>
          </a:prstGeom>
          <a:solidFill>
            <a:srgbClr val="FF9166">
              <a:alpha val="12000"/>
            </a:srgbClr>
          </a:solidFill>
          <a:ln w="16510">
            <a:solidFill>
              <a:srgbClr val="FF916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28116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9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СУБЪЕКТИВНОЕ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9281160" y="42519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образы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842248" y="3108960"/>
            <a:ext cx="685800" cy="548640"/>
          </a:xfrm>
          <a:prstGeom prst="line">
            <a:avLst/>
          </a:prstGeom>
          <a:noFill/>
          <a:ln w="22860">
            <a:solidFill>
              <a:srgbClr val="6BBBFF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 flipH="1" flipV="1">
            <a:off x="8540496" y="3291840"/>
            <a:ext cx="658368" cy="530352"/>
          </a:xfrm>
          <a:prstGeom prst="line">
            <a:avLst/>
          </a:prstGeom>
          <a:noFill/>
          <a:ln w="22860">
            <a:solidFill>
              <a:srgbClr val="FF9166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7680960" y="5257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взаимная детерминация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984687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5836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конфликта</a:t>
            </a:r>
            <a:endParaRPr lang="en-US" sz="95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58368" y="566928"/>
            <a:ext cx="91440" cy="91440"/>
          </a:xfrm>
          <a:prstGeom prst="ellipse">
            <a:avLst/>
          </a:prstGeom>
          <a:solidFill>
            <a:srgbClr val="6BBB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41248" y="475488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ПРАКТИКА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841248"/>
            <a:ext cx="108749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Разбор кейса по элементам</a:t>
            </a:r>
            <a:endParaRPr lang="en-US" sz="33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171907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Ситуация: </a:t>
            </a: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бывшие супруги делят квартиру; каждый считает, что вложил больше.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58368" y="2240280"/>
            <a:ext cx="5231740" cy="3108960"/>
          </a:xfrm>
          <a:prstGeom prst="roundRect">
            <a:avLst>
              <a:gd name="adj" fmla="val 2941"/>
            </a:avLst>
          </a:prstGeom>
          <a:solidFill>
            <a:srgbClr val="12294A">
              <a:alpha val="82000"/>
            </a:srgbClr>
          </a:solidFill>
          <a:ln w="15875">
            <a:solidFill>
              <a:srgbClr val="3E7FC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50976" y="2450592"/>
            <a:ext cx="4646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6BB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Объективная подструктура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50976" y="2907792"/>
            <a:ext cx="46465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Участники:</a:t>
            </a:r>
            <a:r>
              <a:rPr lang="en-US" sz="10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бывшие супруги; группы поддержки — родители с обеих сторон; наблюдатель — общий ребёнок.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950976" y="3392424"/>
            <a:ext cx="46465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Объект:</a:t>
            </a:r>
            <a:r>
              <a:rPr lang="en-US" sz="10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квартира как имущественная ценность.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950976" y="3877056"/>
            <a:ext cx="46465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Предмет:</a:t>
            </a:r>
            <a:r>
              <a:rPr lang="en-US" sz="10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кто останется в ней жить и как делить метры.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950976" y="4361688"/>
            <a:ext cx="46465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Микросреда:</a:t>
            </a:r>
            <a:r>
              <a:rPr lang="en-US" sz="10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семьи, общие друзья, юристы, сроки судебного процесса.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950976" y="4846320"/>
            <a:ext cx="46465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Макросреда:</a:t>
            </a:r>
            <a:r>
              <a:rPr lang="en-US" sz="10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семейное законодательство, цены на жильё, нормы о «правильном» разводе.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301588" y="2240280"/>
            <a:ext cx="5231740" cy="3108960"/>
          </a:xfrm>
          <a:prstGeom prst="roundRect">
            <a:avLst>
              <a:gd name="adj" fmla="val 2941"/>
            </a:avLst>
          </a:prstGeom>
          <a:solidFill>
            <a:srgbClr val="3A1E18">
              <a:alpha val="82000"/>
            </a:srgbClr>
          </a:solidFill>
          <a:ln w="15875">
            <a:solidFill>
              <a:srgbClr val="C4603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94196" y="2450592"/>
            <a:ext cx="4646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9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Субъективная подструктура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594196" y="2907792"/>
            <a:ext cx="46465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ситуации:</a:t>
            </a:r>
            <a:r>
              <a:rPr lang="en-US" sz="10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 каждого своя версия того, «кто больше вложил».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594196" y="3310128"/>
            <a:ext cx="46465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Мотив:</a:t>
            </a:r>
            <a:r>
              <a:rPr lang="en-US" sz="10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не потерять лицо и получить признание вклада.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594196" y="3712464"/>
            <a:ext cx="46465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</a:t>
            </a:r>
            <a:r>
              <a:rPr lang="en-US" sz="10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закрепить за собой бо́льшую долю.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6594196" y="4114800"/>
            <a:ext cx="46465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Состояние:</a:t>
            </a:r>
            <a:r>
              <a:rPr lang="en-US" sz="10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высокая тревога, усталость, обида после развода.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594196" y="4517136"/>
            <a:ext cx="46465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Образы:</a:t>
            </a:r>
            <a:r>
              <a:rPr lang="en-US" sz="10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оппонент — «корыстный», себя — «пострадавшая сторона».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6594196" y="4919472"/>
            <a:ext cx="46465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Прогноз:</a:t>
            </a:r>
            <a:r>
              <a:rPr lang="en-US" sz="10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«суд всё равно будет на моей стороне».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658368" y="5532120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даёт разбор: </a:t>
            </a:r>
            <a:r>
              <a:rPr lang="en-US" sz="12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 (квартира) делится по закону, но конфликт не гаснет, пока не признан реальный предмет — </a:t>
            </a:r>
            <a:r>
              <a:rPr lang="en-US" sz="1250" b="1" dirty="0">
                <a:solidFill>
                  <a:srgbClr val="FF9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 о признании вклада</a:t>
            </a:r>
            <a:r>
              <a:rPr lang="en-US" sz="12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10984687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65836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конфликта</a:t>
            </a:r>
            <a:endParaRPr lang="en-US" sz="95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58368" y="566928"/>
            <a:ext cx="91440" cy="91440"/>
          </a:xfrm>
          <a:prstGeom prst="ellipse">
            <a:avLst/>
          </a:prstGeom>
          <a:solidFill>
            <a:srgbClr val="6BBB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41248" y="475488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ИТОГИ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841248"/>
            <a:ext cx="108749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важно запомнить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58368" y="1920240"/>
            <a:ext cx="5291176" cy="1325880"/>
          </a:xfrm>
          <a:prstGeom prst="roundRect">
            <a:avLst>
              <a:gd name="adj" fmla="val 6897"/>
            </a:avLst>
          </a:prstGeom>
          <a:solidFill>
            <a:srgbClr val="12294A">
              <a:alpha val="82000"/>
            </a:srgbClr>
          </a:solidFill>
          <a:ln w="15875">
            <a:solidFill>
              <a:srgbClr val="3E7FC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9264" y="2157984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6BB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1956816" y="2231136"/>
            <a:ext cx="3681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— это устойчивые связи, обеспечивающие целостность конфликта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2152" y="1920240"/>
            <a:ext cx="5291176" cy="1325880"/>
          </a:xfrm>
          <a:prstGeom prst="roundRect">
            <a:avLst>
              <a:gd name="adj" fmla="val 6897"/>
            </a:avLst>
          </a:prstGeom>
          <a:solidFill>
            <a:srgbClr val="12294A">
              <a:alpha val="82000"/>
            </a:srgbClr>
          </a:solidFill>
          <a:ln w="15875">
            <a:solidFill>
              <a:srgbClr val="3E7FC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53048" y="2157984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6BB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7540600" y="2231136"/>
            <a:ext cx="3681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Объективная подструктура: участники, объект, предмет, микро- и макросреда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58368" y="3538728"/>
            <a:ext cx="5291176" cy="1325880"/>
          </a:xfrm>
          <a:prstGeom prst="roundRect">
            <a:avLst>
              <a:gd name="adj" fmla="val 6897"/>
            </a:avLst>
          </a:prstGeom>
          <a:solidFill>
            <a:srgbClr val="3A1E18">
              <a:alpha val="82000"/>
            </a:srgbClr>
          </a:solidFill>
          <a:ln w="15875">
            <a:solidFill>
              <a:srgbClr val="C4603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9264" y="3776472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9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1956816" y="3849624"/>
            <a:ext cx="3681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Субъективная: модели, мотивы, цели, состояния, образы, прогноз результатов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42152" y="3538728"/>
            <a:ext cx="5291176" cy="1325880"/>
          </a:xfrm>
          <a:prstGeom prst="roundRect">
            <a:avLst>
              <a:gd name="adj" fmla="val 6897"/>
            </a:avLst>
          </a:prstGeom>
          <a:solidFill>
            <a:srgbClr val="3A1E18">
              <a:alpha val="82000"/>
            </a:srgbClr>
          </a:solidFill>
          <a:ln w="15875">
            <a:solidFill>
              <a:srgbClr val="C4603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53048" y="3776472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9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7540600" y="3849624"/>
            <a:ext cx="3681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Оба пласта связаны — анализировать конфликт нужно одновременно по обоим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58368" y="5212080"/>
            <a:ext cx="10874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подструктура включает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явные</a:t>
            </a:r>
            <a:r>
              <a:rPr lang="en-US" sz="130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скрытые</a:t>
            </a:r>
            <a:r>
              <a:rPr lang="en-US" sz="130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элементы — и чаще всего именно скрытые определяют, разрешится конфликт или повторится.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984687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58368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конфликта</a:t>
            </a:r>
            <a:endParaRPr lang="en-US" sz="95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955280" y="1645920"/>
            <a:ext cx="2560320" cy="2560320"/>
          </a:xfrm>
          <a:prstGeom prst="ellipse">
            <a:avLst/>
          </a:prstGeom>
          <a:solidFill>
            <a:srgbClr val="6BBBFF">
              <a:alpha val="8000"/>
            </a:srgbClr>
          </a:solidFill>
          <a:ln w="15240">
            <a:solidFill>
              <a:srgbClr val="6BBBF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778240" y="2468880"/>
            <a:ext cx="2560320" cy="2560320"/>
          </a:xfrm>
          <a:prstGeom prst="ellipse">
            <a:avLst/>
          </a:prstGeom>
          <a:solidFill>
            <a:srgbClr val="FF9166">
              <a:alpha val="8000"/>
            </a:srgbClr>
          </a:solidFill>
          <a:ln w="15240">
            <a:solidFill>
              <a:srgbClr val="FF916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205740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71246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Анцупов А. Я., Шипилов А. И. Конфликтология: учебник для вузов. — М.: ЮНИТИ-ДАНА.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" y="4572000"/>
            <a:ext cx="1097280" cy="18288"/>
          </a:xfrm>
          <a:prstGeom prst="rect">
            <a:avLst/>
          </a:prstGeom>
          <a:solidFill>
            <a:srgbClr val="33415C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" y="48006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Кудякова Дарья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5102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8.536 зу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493008" y="48006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Бороздова Валерия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493008" y="5102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3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8.536 зу</a:t>
            </a:r>
            <a:endParaRPr lang="en-US" sz="11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Объективная и субъективная структура конфликта</dc:title>
  <dc:subject>Конфликтология. Структура конфликта по А. Я. Анцупову и А. И. Шипилову</dc:subject>
  <dc:creator>Кудякова Дарья, Бороздова Валерия</dc:creator>
  <cp:lastModifiedBy>Кудякова Дарья, Бороздова Валерия</cp:lastModifiedBy>
  <cp:revision>1</cp:revision>
  <dcterms:created xsi:type="dcterms:W3CDTF">2026-09-11T16:21:56Z</dcterms:created>
  <dcterms:modified xsi:type="dcterms:W3CDTF">2026-09-11T16:21:56Z</dcterms:modified>
</cp:coreProperties>
</file>